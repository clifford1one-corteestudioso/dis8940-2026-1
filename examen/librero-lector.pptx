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embeddedFontLst>
    <p:embeddedFont>
      <p:font typeface="Sofia Sans"/>
      <p:regular r:id="rId19"/>
      <p:bold r:id="rId20"/>
      <p:italic r:id="rId21"/>
      <p:boldItalic r:id="rId22"/>
    </p:embeddedFont>
    <p:embeddedFont>
      <p:font typeface="Itim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44">
          <p15:clr>
            <a:srgbClr val="747775"/>
          </p15:clr>
        </p15:guide>
        <p15:guide id="2" pos="5616">
          <p15:clr>
            <a:srgbClr val="747775"/>
          </p15:clr>
        </p15:guide>
        <p15:guide id="3" orient="horz" pos="144">
          <p15:clr>
            <a:srgbClr val="747775"/>
          </p15:clr>
        </p15:guide>
        <p15:guide id="4" orient="horz" pos="309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4"/>
        <p:guide pos="5616"/>
        <p:guide pos="144" orient="horz"/>
        <p:guide pos="309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fiaSans-bold.fntdata"/><Relationship Id="rId11" Type="http://schemas.openxmlformats.org/officeDocument/2006/relationships/slide" Target="slides/slide6.xml"/><Relationship Id="rId22" Type="http://schemas.openxmlformats.org/officeDocument/2006/relationships/font" Target="fonts/SofiaSans-boldItalic.fntdata"/><Relationship Id="rId10" Type="http://schemas.openxmlformats.org/officeDocument/2006/relationships/slide" Target="slides/slide5.xml"/><Relationship Id="rId21" Type="http://schemas.openxmlformats.org/officeDocument/2006/relationships/font" Target="fonts/Sofia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Iti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SofiaSa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28600" y="1905975"/>
            <a:ext cx="8229600" cy="11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C4714A"/>
                </a:solidFill>
                <a:latin typeface="Itim"/>
                <a:ea typeface="Itim"/>
                <a:cs typeface="Itim"/>
                <a:sym typeface="Itim"/>
              </a:rPr>
              <a:t>Librero </a:t>
            </a:r>
            <a:r>
              <a:rPr b="1" lang="en-US" sz="4400">
                <a:solidFill>
                  <a:srgbClr val="C4714A"/>
                </a:solidFill>
                <a:latin typeface="Itim"/>
                <a:ea typeface="Itim"/>
                <a:cs typeface="Itim"/>
                <a:sym typeface="Itim"/>
              </a:rPr>
              <a:t>l</a:t>
            </a:r>
            <a:r>
              <a:rPr b="1" i="0" lang="en-US" sz="4400" u="none" cap="none" strike="noStrike">
                <a:solidFill>
                  <a:srgbClr val="C4714A"/>
                </a:solidFill>
                <a:latin typeface="Itim"/>
                <a:ea typeface="Itim"/>
                <a:cs typeface="Itim"/>
                <a:sym typeface="Itim"/>
              </a:rPr>
              <a:t>ector</a:t>
            </a:r>
            <a:r>
              <a:rPr b="1" lang="en-US" sz="4400">
                <a:solidFill>
                  <a:srgbClr val="C4714A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b="1" i="0" lang="en-US" sz="4400" u="none" cap="none" strike="noStrike">
                <a:solidFill>
                  <a:srgbClr val="C4714A"/>
                </a:solidFill>
                <a:latin typeface="Itim"/>
                <a:ea typeface="Itim"/>
                <a:cs typeface="Itim"/>
                <a:sym typeface="Itim"/>
              </a:rPr>
              <a:t>para el </a:t>
            </a:r>
            <a:r>
              <a:rPr b="1" lang="en-US" sz="4400">
                <a:solidFill>
                  <a:srgbClr val="C4714A"/>
                </a:solidFill>
                <a:latin typeface="Itim"/>
                <a:ea typeface="Itim"/>
                <a:cs typeface="Itim"/>
                <a:sym typeface="Itim"/>
              </a:rPr>
              <a:t>a</a:t>
            </a:r>
            <a:r>
              <a:rPr b="1" i="0" lang="en-US" sz="4400" u="none" cap="none" strike="noStrike">
                <a:solidFill>
                  <a:srgbClr val="C4714A"/>
                </a:solidFill>
                <a:latin typeface="Itim"/>
                <a:ea typeface="Itim"/>
                <a:cs typeface="Itim"/>
                <a:sym typeface="Itim"/>
              </a:rPr>
              <a:t>ula</a:t>
            </a:r>
            <a:endParaRPr b="1" i="0" sz="4400" u="none" cap="none" strike="noStrike">
              <a:solidFill>
                <a:srgbClr val="C4714A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228600" y="2790125"/>
            <a:ext cx="73152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4A8"/>
              </a:buClr>
              <a:buSzPts val="1500"/>
              <a:buFont typeface="Calibri"/>
              <a:buNone/>
            </a:pPr>
            <a:r>
              <a:rPr i="0" lang="en-US" sz="1500" u="none" cap="none" strike="noStrike">
                <a:solidFill>
                  <a:srgbClr val="2C3E2D"/>
                </a:solidFill>
                <a:latin typeface="Sofia Sans"/>
                <a:ea typeface="Sofia Sans"/>
                <a:cs typeface="Sofia Sans"/>
                <a:sym typeface="Sofia Sans"/>
              </a:rPr>
              <a:t>Diseño de un espacio de lectura libre en educación básica</a:t>
            </a:r>
            <a:endParaRPr i="0" sz="1500" u="none" cap="none" strike="noStrike">
              <a:solidFill>
                <a:srgbClr val="2C3E2D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pic>
        <p:nvPicPr>
          <p:cNvPr id="18" name="Google Shape;18;p3" title="faad_lockupsArtboard 1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5275" y="228600"/>
            <a:ext cx="1000125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E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548640" y="960120"/>
            <a:ext cx="80467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400"/>
              <a:buFont typeface="Cambria"/>
              <a:buNone/>
            </a:pPr>
            <a:r>
              <a:rPr b="0" i="1" lang="en-US" sz="24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“Leer sirve quizá ante todo para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400"/>
              <a:buFont typeface="Cambria"/>
              <a:buNone/>
            </a:pPr>
            <a:r>
              <a:rPr b="0" i="1" lang="en-US" sz="24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elaborar sentido, dar forma a la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400"/>
              <a:buFont typeface="Cambria"/>
              <a:buNone/>
            </a:pPr>
            <a:r>
              <a:rPr b="0" i="1" lang="en-US" sz="24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propia experiencia, o a su parte 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400"/>
              <a:buFont typeface="Cambria"/>
              <a:buNone/>
            </a:pPr>
            <a:r>
              <a:rPr b="0" i="1" lang="en-US" sz="24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sombra, o a su verdad interior, secreta.”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48640" y="33832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— Michèle Petit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Leer el mundo: experiencias actuales de transmisión cultural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457200" y="8229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Los niños leen cada vez menos libros físicos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457200" y="1508750"/>
            <a:ext cx="83211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lang="en-US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En la última década, el consumo de lectura infantil ha migrado de soportes físicos a pantallas. Si bien esto amplía el acceso, diversos estudios señalan diferencias en comprensión profunda, retención y hábito sostenido entre lectura impresa y digital. El problema no es la desaparición del libro físico en sí, sino el desconocimiento sobre cómo este cambio de soporte afecta el desarrollo del hábito lector y la comprensión en la infancia.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457200" y="2788920"/>
            <a:ext cx="2697480" cy="1920240"/>
          </a:xfrm>
          <a:prstGeom prst="roundRect">
            <a:avLst>
              <a:gd fmla="val 3810" name="adj"/>
            </a:avLst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548640" y="2852928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27%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548640" y="3566160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nivel Insuficiente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4° Básico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(SIMCE)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3291840" y="2788920"/>
            <a:ext cx="2697480" cy="1920240"/>
          </a:xfrm>
          <a:prstGeom prst="roundRect">
            <a:avLst>
              <a:gd fmla="val 3810" name="adj"/>
            </a:avLst>
          </a:prstGeom>
          <a:solidFill>
            <a:srgbClr val="C4714A"/>
          </a:solidFill>
          <a:ln cap="flat" cmpd="sng" w="12700">
            <a:solidFill>
              <a:srgbClr val="C47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3383280" y="2852928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42%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3383280" y="3566160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nivel Insuficiente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8° Básico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(SIMCE)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6080760" y="2788920"/>
            <a:ext cx="2697480" cy="1920240"/>
          </a:xfrm>
          <a:prstGeom prst="roundRect">
            <a:avLst>
              <a:gd fmla="val 3810" name="adj"/>
            </a:avLst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6172200" y="2852928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88%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6172200" y="3566160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escolares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 algún tipo 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dificultad lectora (U. Chile)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Fuentes: Agencia de Calidad de la Educación · SIMCE · Universidad de Chile · OCDE PISA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E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457200" y="34747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CONTEXTO POLÍTICO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457200" y="749808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Plan Nacional de la Lectura,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Escritura y Oralidad 2025–2030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6217920" y="457200"/>
            <a:ext cx="2560320" cy="4206240"/>
          </a:xfrm>
          <a:prstGeom prst="roundRect">
            <a:avLst>
              <a:gd fmla="val 3571" name="adj"/>
            </a:avLst>
          </a:prstGeom>
          <a:solidFill>
            <a:srgbClr val="E8F0EA"/>
          </a:solidFill>
          <a:ln cap="flat" cmpd="sng" w="12700">
            <a:solidFill>
              <a:srgbClr val="E8F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6309360" y="640080"/>
            <a:ext cx="2377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Ministerio 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Culturas, Artes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y Patrimonio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457200" y="178308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1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714A"/>
                </a:solidFill>
                <a:latin typeface="Calibri"/>
                <a:ea typeface="Calibri"/>
                <a:cs typeface="Calibri"/>
                <a:sym typeface="Calibri"/>
              </a:rPr>
              <a:t>Lectura como derecho: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el Plan reconoce el acceso a la lectura como un derecho fundamental que el Estado debe garantizar.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457200" y="237744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1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714A"/>
                </a:solidFill>
                <a:latin typeface="Calibri"/>
                <a:ea typeface="Calibri"/>
                <a:cs typeface="Calibri"/>
                <a:sym typeface="Calibri"/>
              </a:rPr>
              <a:t>Mediación lectora: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línea estratégica central — articular espacios que hagan posible el encuentro entre el niño y el libro.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457200" y="297180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1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714A"/>
                </a:solidFill>
                <a:latin typeface="Calibri"/>
                <a:ea typeface="Calibri"/>
                <a:cs typeface="Calibri"/>
                <a:sym typeface="Calibri"/>
              </a:rPr>
              <a:t>Lectura como práctica sociocultural: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no una habilidad individual, sino una práctica construida en contextos y comunidades.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457200" y="356616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1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714A"/>
                </a:solidFill>
                <a:latin typeface="Calibri"/>
                <a:ea typeface="Calibri"/>
                <a:cs typeface="Calibri"/>
                <a:sym typeface="Calibri"/>
              </a:rPr>
              <a:t>Problema de acceso en aula: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el Plan identifica brechas comunicacionales y de mediación como obstáculos clave.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6309360" y="41605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Mincap,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3E2D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4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DC4A8"/>
                </a:solidFill>
                <a:latin typeface="Calibri"/>
                <a:ea typeface="Calibri"/>
                <a:cs typeface="Calibri"/>
                <a:sym typeface="Calibri"/>
              </a:rPr>
              <a:t>FUNDAMENTACIÓN TEÓRICA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Pedagogía humanista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como marco conceptual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457200" y="2011680"/>
            <a:ext cx="4160520" cy="822960"/>
          </a:xfrm>
          <a:prstGeom prst="roundRect">
            <a:avLst>
              <a:gd fmla="val 7778" name="adj"/>
            </a:avLst>
          </a:prstGeom>
          <a:solidFill>
            <a:srgbClr val="334D38"/>
          </a:solidFill>
          <a:ln cap="flat" cmpd="sng" w="12700">
            <a:solidFill>
              <a:srgbClr val="334D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566928" y="2057400"/>
            <a:ext cx="502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4A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9DC4A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1115568" y="2048256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Carl Rogers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1115568" y="239572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4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DC4A8"/>
                </a:solidFill>
                <a:latin typeface="Calibri"/>
                <a:ea typeface="Calibri"/>
                <a:cs typeface="Calibri"/>
                <a:sym typeface="Calibri"/>
              </a:rPr>
              <a:t>Aprendizaje significativo y libertad para aprender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4846320" y="2011680"/>
            <a:ext cx="4160520" cy="822960"/>
          </a:xfrm>
          <a:prstGeom prst="roundRect">
            <a:avLst>
              <a:gd fmla="val 7778" name="adj"/>
            </a:avLst>
          </a:prstGeom>
          <a:solidFill>
            <a:srgbClr val="334D38"/>
          </a:solidFill>
          <a:ln cap="flat" cmpd="sng" w="12700">
            <a:solidFill>
              <a:srgbClr val="334D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4956048" y="2057400"/>
            <a:ext cx="502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4A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9DC4A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5504688" y="2048256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Abraham Maslow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5504688" y="239572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4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DC4A8"/>
                </a:solidFill>
                <a:latin typeface="Calibri"/>
                <a:ea typeface="Calibri"/>
                <a:cs typeface="Calibri"/>
                <a:sym typeface="Calibri"/>
              </a:rPr>
              <a:t>Jerarquía de necesidades y condiciones del aprendizaje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457200" y="3063240"/>
            <a:ext cx="4160520" cy="822960"/>
          </a:xfrm>
          <a:prstGeom prst="roundRect">
            <a:avLst>
              <a:gd fmla="val 7778" name="adj"/>
            </a:avLst>
          </a:prstGeom>
          <a:solidFill>
            <a:srgbClr val="334D38"/>
          </a:solidFill>
          <a:ln cap="flat" cmpd="sng" w="12700">
            <a:solidFill>
              <a:srgbClr val="334D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566928" y="3108960"/>
            <a:ext cx="502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4A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9DC4A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115568" y="3099816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Paulo Freire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1115568" y="344728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4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DC4A8"/>
                </a:solidFill>
                <a:latin typeface="Calibri"/>
                <a:ea typeface="Calibri"/>
                <a:cs typeface="Calibri"/>
                <a:sym typeface="Calibri"/>
              </a:rPr>
              <a:t>Lectura del mundo y educación liberadora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4846320" y="3063240"/>
            <a:ext cx="4160520" cy="822960"/>
          </a:xfrm>
          <a:prstGeom prst="roundRect">
            <a:avLst>
              <a:gd fmla="val 7778" name="adj"/>
            </a:avLst>
          </a:prstGeom>
          <a:solidFill>
            <a:srgbClr val="334D38"/>
          </a:solidFill>
          <a:ln cap="flat" cmpd="sng" w="12700">
            <a:solidFill>
              <a:srgbClr val="334D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4956048" y="3108960"/>
            <a:ext cx="502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4A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9DC4A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5504688" y="3099816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Michèle Petit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5504688" y="344728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4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DC4A8"/>
                </a:solidFill>
                <a:latin typeface="Calibri"/>
                <a:ea typeface="Calibri"/>
                <a:cs typeface="Calibri"/>
                <a:sym typeface="Calibri"/>
              </a:rPr>
              <a:t>Lectura como construcción del sí mismo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457200" y="4114800"/>
            <a:ext cx="4160520" cy="822960"/>
          </a:xfrm>
          <a:prstGeom prst="roundRect">
            <a:avLst>
              <a:gd fmla="val 7778" name="adj"/>
            </a:avLst>
          </a:prstGeom>
          <a:solidFill>
            <a:srgbClr val="334D38"/>
          </a:solidFill>
          <a:ln cap="flat" cmpd="sng" w="12700">
            <a:solidFill>
              <a:srgbClr val="334D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566928" y="4160520"/>
            <a:ext cx="502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4A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9DC4A8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1115568" y="4151376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 Nac. LEO 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1115568" y="449884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4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DC4A8"/>
                </a:solidFill>
                <a:latin typeface="Calibri"/>
                <a:ea typeface="Calibri"/>
                <a:cs typeface="Calibri"/>
                <a:sym typeface="Calibri"/>
              </a:rPr>
              <a:t>Política pública de fomento lector en Chile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01 · CARL ROGERS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Freedom to Learn (1969/1994)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457200" y="1417320"/>
            <a:ext cx="8229600" cy="1051560"/>
          </a:xfrm>
          <a:prstGeom prst="roundRect">
            <a:avLst>
              <a:gd fmla="val 6957" name="adj"/>
            </a:avLst>
          </a:prstGeom>
          <a:solidFill>
            <a:srgbClr val="E8F0EA"/>
          </a:solidFill>
          <a:ln cap="flat" cmpd="sng" w="12700">
            <a:solidFill>
              <a:srgbClr val="E8F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640080" y="1508760"/>
            <a:ext cx="7863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mbria"/>
              <a:buNone/>
            </a:pPr>
            <a:r>
              <a:rPr b="0" i="1" lang="en-US" sz="13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“How can I create a psychological climate in which the child will feel free to be curious,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mbria"/>
              <a:buNone/>
            </a:pPr>
            <a:r>
              <a:rPr b="0" i="1" lang="en-US" sz="13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will feel free to make mistakes, will feel free to learn from the environment?”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457200" y="260604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→  Aprendizaje autodirigido: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el niño aprende más profundamente cuando puede elegir qué explorar.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457200" y="3118104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→  Clima psicológico: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el espacio físico es condición del aprendizaje. Sin seguridad y libertad, no hay curiosidad.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457200" y="3630168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→  Facilitación, no instrucción: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el rol del adulto es crear condiciones, no prescribir contenidos.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457200" y="414223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→  Impacto duradero: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incluso pocas horas semanales de libertad para aprender generan efectos positivos de largo plazo.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Rogers, C. R. &amp; Freiberg, H. J. (1994). Freedom to learn (3ª ed.). Merrill/Macmillan.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E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02 · ABRAHAM MASLOW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Motivation and Personality (1970)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457200" y="141732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E8F0EA"/>
          </a:solidFill>
          <a:ln cap="flat" cmpd="sng" w="12700">
            <a:solidFill>
              <a:srgbClr val="E8F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"/>
          <p:cNvSpPr/>
          <p:nvPr/>
        </p:nvSpPr>
        <p:spPr>
          <a:xfrm>
            <a:off x="640080" y="1490472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mbria"/>
              <a:buNone/>
            </a:pPr>
            <a:r>
              <a:rPr b="0" i="1" lang="en-US" sz="13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“The child needs an organized and structured world rather than an unorganized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mbria"/>
              <a:buNone/>
            </a:pPr>
            <a:r>
              <a:rPr b="0" i="1" lang="en-US" sz="13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or unstructured one.”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457200" y="233172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1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714A"/>
                </a:solidFill>
                <a:latin typeface="Calibri"/>
                <a:ea typeface="Calibri"/>
                <a:cs typeface="Calibri"/>
                <a:sym typeface="Calibri"/>
              </a:rPr>
              <a:t>→  Necesidades de seguridad: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un espacio físico predecible y cómodo crea las condiciones para el aprendizaje superior.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457200" y="286207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1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714A"/>
                </a:solidFill>
                <a:latin typeface="Calibri"/>
                <a:ea typeface="Calibri"/>
                <a:cs typeface="Calibri"/>
                <a:sym typeface="Calibri"/>
              </a:rPr>
              <a:t>→  Jerarquía de necesidades: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cuando las necesidades básicas están satisfechas, emergen las cognitivas: curiosidad, exploración, lectura.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457200" y="3392424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1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714A"/>
                </a:solidFill>
                <a:latin typeface="Calibri"/>
                <a:ea typeface="Calibri"/>
                <a:cs typeface="Calibri"/>
                <a:sym typeface="Calibri"/>
              </a:rPr>
              <a:t>→  Pertenencia: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el librero dentro del aula crea un lugar propio de los niños dentro del espacio escolar.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457200" y="3922776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1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714A"/>
                </a:solidFill>
                <a:latin typeface="Calibri"/>
                <a:ea typeface="Calibri"/>
                <a:cs typeface="Calibri"/>
                <a:sym typeface="Calibri"/>
              </a:rPr>
              <a:t>→  Curiosidad como necesidad: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las personas psicológicamente sanas son atraídas por lo misterioso y lo desconocido.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Maslow, A. H. (1970). Motivation and personality (2ª ed.). Harper &amp; Row.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E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03 · PAULO FREIRE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457200" y="749808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La importancia de leer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y el proceso de liberación (1982)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457200" y="1572768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E8F0EA"/>
          </a:solidFill>
          <a:ln cap="flat" cmpd="sng" w="12700">
            <a:solidFill>
              <a:srgbClr val="E8F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640080" y="16459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mbria"/>
              <a:buNone/>
            </a:pPr>
            <a:r>
              <a:rPr b="0" i="1" lang="en-US" sz="13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“La lectura del mundo precede a la lectura de la palabra [...]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mbria"/>
              <a:buNone/>
            </a:pPr>
            <a:r>
              <a:rPr b="0" i="1" lang="en-US" sz="13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Lenguaje y realidad se vinculan dinámicamente.”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457200" y="245059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1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714A"/>
                </a:solidFill>
                <a:latin typeface="Calibri"/>
                <a:ea typeface="Calibri"/>
                <a:cs typeface="Calibri"/>
                <a:sym typeface="Calibri"/>
              </a:rPr>
              <a:t>→  Educación bancaria: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la enseñanza tradicional "mata la curiosidad, el espíritu investigador, la creatividad" (p. 48).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457200" y="2962656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1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714A"/>
                </a:solidFill>
                <a:latin typeface="Calibri"/>
                <a:ea typeface="Calibri"/>
                <a:cs typeface="Calibri"/>
                <a:sym typeface="Calibri"/>
              </a:rPr>
              <a:t>→  Leer es reinventar: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estudiar es "una forma de reinventar, de recrear, de reescribir, tarea de sujeto y no de objeto" (p. 49).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457200" y="347472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1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714A"/>
                </a:solidFill>
                <a:latin typeface="Calibri"/>
                <a:ea typeface="Calibri"/>
                <a:cs typeface="Calibri"/>
                <a:sym typeface="Calibri"/>
              </a:rPr>
              <a:t>→  Aprendizaje situado: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"Fui alfabetizado [...] con palabras de mi mundo y no del mundo mayor de mis padres" (p. 99).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457200" y="3986784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1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714A"/>
                </a:solidFill>
                <a:latin typeface="Calibri"/>
                <a:ea typeface="Calibri"/>
                <a:cs typeface="Calibri"/>
                <a:sym typeface="Calibri"/>
              </a:rPr>
              <a:t>→  Lectura significativa: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memorizar no es conocer — el acceso libre al librero permite una relación auténtica con el texto.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Freire, P. (1982). La importancia de leer y el proceso de liberación. Siglo XXI.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E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04 · MICHÈLE PETIT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457200" y="749808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Lectura literaria y construcción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del sí mismo (2000)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457200" y="1572768"/>
            <a:ext cx="8229600" cy="914400"/>
          </a:xfrm>
          <a:prstGeom prst="roundRect">
            <a:avLst>
              <a:gd fmla="val 8000" name="adj"/>
            </a:avLst>
          </a:prstGeom>
          <a:solidFill>
            <a:srgbClr val="E8F0EA"/>
          </a:solidFill>
          <a:ln cap="flat" cmpd="sng" w="12700">
            <a:solidFill>
              <a:srgbClr val="E8F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/>
          <p:cNvSpPr/>
          <p:nvPr/>
        </p:nvSpPr>
        <p:spPr>
          <a:xfrm>
            <a:off x="640080" y="1627632"/>
            <a:ext cx="7863840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Cambria"/>
              <a:buNone/>
            </a:pPr>
            <a:r>
              <a:rPr b="0" i="1" lang="en-US" sz="12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“Si nuestros libros de clase se diferencian de los que serán ofrecidos a nuestro placer [...]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Cambria"/>
              <a:buNone/>
            </a:pPr>
            <a:r>
              <a:rPr b="0" i="1" lang="en-US" sz="12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es porque unos exigían una actitud rígida e incómoda adaptada al banco del pupitre,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Cambria"/>
              <a:buNone/>
            </a:pPr>
            <a:r>
              <a:rPr b="0" i="1" lang="en-US" sz="12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mientras los otros permitían indolencias [...] en los rincones donde nos habíamos refugiado.”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457200" y="260604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1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714A"/>
                </a:solidFill>
                <a:latin typeface="Calibri"/>
                <a:ea typeface="Calibri"/>
                <a:cs typeface="Calibri"/>
                <a:sym typeface="Calibri"/>
              </a:rPr>
              <a:t>→  Espacio propio: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la lectura permite elaborar "una habitación para uno mismo" — el librero materializa ese espacio íntimo.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457200" y="3118104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1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714A"/>
                </a:solidFill>
                <a:latin typeface="Calibri"/>
                <a:ea typeface="Calibri"/>
                <a:cs typeface="Calibri"/>
                <a:sym typeface="Calibri"/>
              </a:rPr>
              <a:t>→  Autonomía lectora: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el lector joven elabora un lugar donde "no depende de otros [...] capaz de un pensamiento independiente" (p. 44).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457200" y="3630168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1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714A"/>
                </a:solidFill>
                <a:latin typeface="Calibri"/>
                <a:ea typeface="Calibri"/>
                <a:cs typeface="Calibri"/>
                <a:sym typeface="Calibri"/>
              </a:rPr>
              <a:t>→  Escuela vs. placer: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la enseñanza ejerce un "efecto disuasivo sobre el gusto de leer" (p. 59). El librero libre contrarresta eso.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57200" y="414223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1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714A"/>
                </a:solidFill>
                <a:latin typeface="Calibri"/>
                <a:ea typeface="Calibri"/>
                <a:cs typeface="Calibri"/>
                <a:sym typeface="Calibri"/>
              </a:rPr>
              <a:t>→  Lugar de perdición:</a:t>
            </a: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la biblioteca/el rincón lector debe ser un espacio donde "uno pueda quedarse sin apuro" (p. 52).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Petit, M. (2001). Lectura literaria y construcción del sí mismo. En Lecturas: del espacio íntimo al espacio público. FCE.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3E2D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4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DC4A8"/>
                </a:solidFill>
                <a:latin typeface="Calibri"/>
                <a:ea typeface="Calibri"/>
                <a:cs typeface="Calibri"/>
                <a:sym typeface="Calibri"/>
              </a:rPr>
              <a:t>PROPUESTA DE DISEÑO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Librero Lector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para el Aula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8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4E8D8"/>
                </a:solidFill>
                <a:latin typeface="Calibri"/>
                <a:ea typeface="Calibri"/>
                <a:cs typeface="Calibri"/>
                <a:sym typeface="Calibri"/>
              </a:rPr>
              <a:t>Un mueble que integra estantería y asiento, diseñado para instalarse en aulas de educación básica (6–12 años), que materializa el derecho a un espacio lector propio dentro del tiempo escolar.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457200" y="2880360"/>
            <a:ext cx="2743200" cy="1874520"/>
          </a:xfrm>
          <a:prstGeom prst="roundRect">
            <a:avLst>
              <a:gd fmla="val 3902" name="adj"/>
            </a:avLst>
          </a:prstGeom>
          <a:solidFill>
            <a:srgbClr val="334D38"/>
          </a:solidFill>
          <a:ln cap="flat" cmpd="sng" w="12700">
            <a:solidFill>
              <a:srgbClr val="334D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"/>
          <p:cNvSpPr/>
          <p:nvPr/>
        </p:nvSpPr>
        <p:spPr>
          <a:xfrm>
            <a:off x="594360" y="294436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4A8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9DC4A8"/>
                </a:solidFill>
                <a:latin typeface="Cambria"/>
                <a:ea typeface="Cambria"/>
                <a:cs typeface="Cambria"/>
                <a:sym typeface="Cambria"/>
              </a:rPr>
              <a:t>Acceso libre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594360" y="3364992"/>
            <a:ext cx="246888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8D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4E8D8"/>
                </a:solidFill>
                <a:latin typeface="Calibri"/>
                <a:ea typeface="Calibri"/>
                <a:cs typeface="Calibri"/>
                <a:sym typeface="Calibri"/>
              </a:rPr>
              <a:t>Sin lista de lecturas ni evaluación. El niño elige qué leer, cómo sentarse y cuándo acercarse.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3355848" y="2880360"/>
            <a:ext cx="2743200" cy="1874520"/>
          </a:xfrm>
          <a:prstGeom prst="roundRect">
            <a:avLst>
              <a:gd fmla="val 3902" name="adj"/>
            </a:avLst>
          </a:prstGeom>
          <a:solidFill>
            <a:srgbClr val="334D38"/>
          </a:solidFill>
          <a:ln cap="flat" cmpd="sng" w="12700">
            <a:solidFill>
              <a:srgbClr val="334D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"/>
          <p:cNvSpPr/>
          <p:nvPr/>
        </p:nvSpPr>
        <p:spPr>
          <a:xfrm>
            <a:off x="3493008" y="294436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4A8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9DC4A8"/>
                </a:solidFill>
                <a:latin typeface="Cambria"/>
                <a:ea typeface="Cambria"/>
                <a:cs typeface="Cambria"/>
                <a:sym typeface="Cambria"/>
              </a:rPr>
              <a:t>Espacio propio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3493008" y="3364992"/>
            <a:ext cx="246888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8D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4E8D8"/>
                </a:solidFill>
                <a:latin typeface="Calibri"/>
                <a:ea typeface="Calibri"/>
                <a:cs typeface="Calibri"/>
                <a:sym typeface="Calibri"/>
              </a:rPr>
              <a:t>Integra asiento cómodo: la postura es parte del mensaje. Leer no es trabajar.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6254496" y="2880360"/>
            <a:ext cx="2743200" cy="1874520"/>
          </a:xfrm>
          <a:prstGeom prst="roundRect">
            <a:avLst>
              <a:gd fmla="val 3902" name="adj"/>
            </a:avLst>
          </a:prstGeom>
          <a:solidFill>
            <a:srgbClr val="334D38"/>
          </a:solidFill>
          <a:ln cap="flat" cmpd="sng" w="12700">
            <a:solidFill>
              <a:srgbClr val="334D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"/>
          <p:cNvSpPr/>
          <p:nvPr/>
        </p:nvSpPr>
        <p:spPr>
          <a:xfrm>
            <a:off x="6391656" y="294436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4A8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9DC4A8"/>
                </a:solidFill>
                <a:latin typeface="Cambria"/>
                <a:ea typeface="Cambria"/>
                <a:cs typeface="Cambria"/>
                <a:sym typeface="Cambria"/>
              </a:rPr>
              <a:t>En el aula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6391656" y="3364992"/>
            <a:ext cx="246888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8D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4E8D8"/>
                </a:solidFill>
                <a:latin typeface="Calibri"/>
                <a:ea typeface="Calibri"/>
                <a:cs typeface="Calibri"/>
                <a:sym typeface="Calibri"/>
              </a:rPr>
              <a:t>No en la biblioteca: disponible en el cotidiano del aula, accesible sin permiso ni traslado.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E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"/>
          <p:cNvSpPr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DESARROLLO DE LA PROPUESTA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Del marco teórico al objeto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411480" y="1600200"/>
            <a:ext cx="41148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5DF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"/>
          <p:cNvSpPr/>
          <p:nvPr/>
        </p:nvSpPr>
        <p:spPr>
          <a:xfrm>
            <a:off x="548640" y="167335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4A7C59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1033272" y="1673352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Identificación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de la problemática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576072" y="2148840"/>
            <a:ext cx="3794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Diagnóstico de la crisis lectora y análisis de cómo la escuela desincentiva la lectura por placer.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4709160" y="1600200"/>
            <a:ext cx="41148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5DF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"/>
          <p:cNvSpPr/>
          <p:nvPr/>
        </p:nvSpPr>
        <p:spPr>
          <a:xfrm>
            <a:off x="4846320" y="167335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4A7C59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5330952" y="1673352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Marco teórico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humanista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4873752" y="2148840"/>
            <a:ext cx="3794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Rogers, Maslow, Freire y Petit como base: autonomía, seguridad, lectura del mundo, espacio propio.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411480" y="3200400"/>
            <a:ext cx="41148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5DF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"/>
          <p:cNvSpPr/>
          <p:nvPr/>
        </p:nvSpPr>
        <p:spPr>
          <a:xfrm>
            <a:off x="548640" y="327355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4A7C59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1033272" y="3273552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Modelado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y prototipado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576072" y="3749040"/>
            <a:ext cx="3794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Desarrollo del librero-asiento en Rhino y Grasshopper. Iteración de proporciones y usabilidad para 6–12 años.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4709160" y="3200400"/>
            <a:ext cx="41148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5DF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/>
          <p:cNvSpPr/>
          <p:nvPr/>
        </p:nvSpPr>
        <p:spPr>
          <a:xfrm>
            <a:off x="4846320" y="327355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4A7C59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5330952" y="3273552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Propuesta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de implementación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4873752" y="3749040"/>
            <a:ext cx="3794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Objeto instalable en aula existente, de bajo costo, sin disrumpir la estructura escolar vigente.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E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714A"/>
          </a:solidFill>
          <a:ln cap="flat" cmpd="sng" w="12700">
            <a:solidFill>
              <a:srgbClr val="C47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"/>
          <p:cNvSpPr/>
          <p:nvPr/>
        </p:nvSpPr>
        <p:spPr>
          <a:xfrm>
            <a:off x="457200" y="34747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1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4714A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mbria"/>
              <a:buNone/>
            </a:pPr>
            <a:r>
              <a:rPr b="0" i="0" lang="en-US" sz="1600" u="none" cap="none" strike="noStrike">
                <a:solidFill>
                  <a:srgbClr val="2C2C2C"/>
                </a:solidFill>
                <a:latin typeface="Cambria"/>
                <a:ea typeface="Cambria"/>
                <a:cs typeface="Cambria"/>
                <a:sym typeface="Cambria"/>
              </a:rPr>
              <a:t>Referencias en formato APA 7ª Edición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457200" y="132588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1.  Freire, P. (1982). La importancia de leer y el proceso de liberación. Siglo XXI Editores.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457200" y="2020824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2.  Maslow, A. H. (1970). Motivation and personality (2ª ed.). Harper &amp; Row.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457200" y="2715768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3.  Ministerio de las Culturas, las Artes y el Patrimonio. (2025). Plan Nacional de la Lectura, Escritura y Oralidad 2025–2030. Mincap. https://plandelectura.cultura.gob.cl/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457200" y="3410712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4.  Petit, M. (2001). Lectura literaria y construcción del sí mismo. En Lecturas: del espacio íntimo al espacio público (pp. 41–66). Fondo de Cultura Económica.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457200" y="4105656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5.  Rogers, C. R. &amp; Freiberg, H. J. (1994). Freedom to learn (3ª ed.). Merrill/Macmillan College Publishing.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3E2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"/>
          <p:cNvSpPr/>
          <p:nvPr/>
        </p:nvSpPr>
        <p:spPr>
          <a:xfrm>
            <a:off x="731520" y="1188720"/>
            <a:ext cx="7680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El librero no es solo un mueble.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Es una declaración de que en el aula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cabe el placer de leer.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5"/>
          <p:cNvCxnSpPr/>
          <p:nvPr/>
        </p:nvCxnSpPr>
        <p:spPr>
          <a:xfrm>
            <a:off x="3200400" y="3108960"/>
            <a:ext cx="2743200" cy="0"/>
          </a:xfrm>
          <a:prstGeom prst="straightConnector1">
            <a:avLst/>
          </a:prstGeom>
          <a:noFill/>
          <a:ln cap="flat" cmpd="sng" w="19050">
            <a:solidFill>
              <a:srgbClr val="9DC4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15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AB8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AB87"/>
                </a:solidFill>
                <a:latin typeface="Calibri"/>
                <a:ea typeface="Calibri"/>
                <a:cs typeface="Calibri"/>
                <a:sym typeface="Calibri"/>
              </a:rPr>
              <a:t>Pedagogías y Diseño · UDP ·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